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62"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5" d="100"/>
          <a:sy n="95" d="100"/>
        </p:scale>
        <p:origin x="163"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data.gov.in/"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gml.noaa.gov/aggi/aggi.html"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151586" y="3429000"/>
            <a:ext cx="6870861" cy="584775"/>
          </a:xfrm>
          <a:prstGeom prst="rect">
            <a:avLst/>
          </a:prstGeom>
          <a:noFill/>
        </p:spPr>
        <p:txBody>
          <a:bodyPr wrap="square" rtlCol="0">
            <a:spAutoFit/>
          </a:bodyPr>
          <a:lstStyle/>
          <a:p>
            <a:pPr algn="r"/>
            <a:r>
              <a:rPr lang="en-IN" sz="3200" b="1" dirty="0">
                <a:solidFill>
                  <a:schemeClr val="bg1"/>
                </a:solidFill>
                <a:latin typeface="Calibri" panose="020F0502020204030204" pitchFamily="34" charset="0"/>
                <a:ea typeface="Calibri" panose="020F0502020204030204" pitchFamily="34" charset="0"/>
                <a:cs typeface="Calibri" panose="020F0502020204030204" pitchFamily="34" charset="0"/>
              </a:rPr>
              <a:t>Carbon Emissions Prediction</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3" name="TextBox 2">
            <a:extLst>
              <a:ext uri="{FF2B5EF4-FFF2-40B4-BE49-F238E27FC236}">
                <a16:creationId xmlns:a16="http://schemas.microsoft.com/office/drawing/2014/main" id="{171C5FB1-26F1-A6E8-6C69-73DDD4412263}"/>
              </a:ext>
            </a:extLst>
          </p:cNvPr>
          <p:cNvSpPr txBox="1"/>
          <p:nvPr/>
        </p:nvSpPr>
        <p:spPr>
          <a:xfrm>
            <a:off x="6216316" y="4098759"/>
            <a:ext cx="1812758" cy="666977"/>
          </a:xfrm>
          <a:prstGeom prst="rect">
            <a:avLst/>
          </a:prstGeom>
          <a:noFill/>
        </p:spPr>
        <p:txBody>
          <a:bodyPr wrap="square" rtlCol="0">
            <a:spAutoFit/>
          </a:bodyPr>
          <a:lstStyle/>
          <a:p>
            <a:r>
              <a:rPr lang="en-IN" dirty="0" err="1"/>
              <a:t>Afcbxf</a:t>
            </a:r>
            <a:endParaRPr lang="en-IN" dirty="0"/>
          </a:p>
          <a:p>
            <a:r>
              <a:rPr lang="en-IN" dirty="0" err="1"/>
              <a:t>aicte</a:t>
            </a:r>
            <a:endParaRPr lang="en-IN" dirty="0"/>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44279" y="3269277"/>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a:extLst>
              <a:ext uri="{FF2B5EF4-FFF2-40B4-BE49-F238E27FC236}">
                <a16:creationId xmlns:a16="http://schemas.microsoft.com/office/drawing/2014/main" id="{F94ED616-9F0E-FDFF-323B-33EEE245CC02}"/>
              </a:ext>
            </a:extLst>
          </p:cNvPr>
          <p:cNvSpPr txBox="1"/>
          <p:nvPr/>
        </p:nvSpPr>
        <p:spPr>
          <a:xfrm>
            <a:off x="345440" y="1600690"/>
            <a:ext cx="7868652" cy="481163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The objective of this project is to develop a machine learning model that predicts </a:t>
            </a:r>
            <a:r>
              <a:rPr lang="en-US" sz="1600" b="1" dirty="0">
                <a:latin typeface="Times New Roman" panose="02020603050405020304" pitchFamily="18" charset="0"/>
                <a:cs typeface="Times New Roman" panose="02020603050405020304" pitchFamily="18" charset="0"/>
              </a:rPr>
              <a:t>CO₂ emissions</a:t>
            </a:r>
            <a:r>
              <a:rPr lang="en-US" sz="1600" dirty="0">
                <a:latin typeface="Times New Roman" panose="02020603050405020304" pitchFamily="18" charset="0"/>
                <a:cs typeface="Times New Roman" panose="02020603050405020304" pitchFamily="18" charset="0"/>
              </a:rPr>
              <a:t> based on a country’s CO₂ level emissions per capita. The key learning outcomes include:</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Understanding use and implementation of different Libraries in python,</a:t>
            </a:r>
          </a:p>
          <a:p>
            <a:r>
              <a:rPr lang="en-US"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Understanding the process of loading , cleaning and preprocessing real-world datasets.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Evaluating machine learning models using appropriate metrics such as R²</a:t>
            </a:r>
            <a:r>
              <a:rPr lang="en-IN" sz="1600" dirty="0">
                <a:latin typeface="Times New Roman" panose="02020603050405020304" pitchFamily="18" charset="0"/>
                <a:cs typeface="Times New Roman" panose="02020603050405020304" pitchFamily="18" charset="0"/>
              </a:rPr>
              <a:t>, MSE, and RMSE</a:t>
            </a:r>
            <a:r>
              <a:rPr lang="en-US" sz="1600" dirty="0">
                <a:latin typeface="Times New Roman" panose="02020603050405020304" pitchFamily="18" charset="0"/>
                <a:cs typeface="Times New Roman" panose="02020603050405020304" pitchFamily="18" charset="0"/>
              </a:rPr>
              <a:t> score.</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Applying regression models to predict continuous target values.</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Cross Validation and Hyperparameter Tuning.</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Carbon Dioxide Emission prediction of different Countries over the years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Where India stands compared to other countries like USA, New </a:t>
            </a:r>
            <a:r>
              <a:rPr lang="en-US" sz="1600" dirty="0" err="1">
                <a:latin typeface="Times New Roman" panose="02020603050405020304" pitchFamily="18" charset="0"/>
                <a:cs typeface="Times New Roman" panose="02020603050405020304" pitchFamily="18" charset="0"/>
              </a:rPr>
              <a:t>Zeland</a:t>
            </a:r>
            <a:r>
              <a:rPr lang="en-US" sz="1600" dirty="0">
                <a:latin typeface="Times New Roman" panose="02020603050405020304" pitchFamily="18" charset="0"/>
                <a:cs typeface="Times New Roman" panose="02020603050405020304" pitchFamily="18" charset="0"/>
              </a:rPr>
              <a:t>, Russia etc.</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2" name="TextBox 1">
            <a:extLst>
              <a:ext uri="{FF2B5EF4-FFF2-40B4-BE49-F238E27FC236}">
                <a16:creationId xmlns:a16="http://schemas.microsoft.com/office/drawing/2014/main" id="{70D37F87-EACB-3B07-A741-A0F9AAE2A9C1}"/>
              </a:ext>
            </a:extLst>
          </p:cNvPr>
          <p:cNvSpPr txBox="1"/>
          <p:nvPr/>
        </p:nvSpPr>
        <p:spPr>
          <a:xfrm>
            <a:off x="200526" y="1604211"/>
            <a:ext cx="9593179" cy="3847976"/>
          </a:xfrm>
          <a:prstGeom prst="rect">
            <a:avLst/>
          </a:prstGeom>
          <a:noFill/>
        </p:spPr>
        <p:txBody>
          <a:bodyPr wrap="square" rtlCol="0">
            <a:spAutoFit/>
          </a:bodyPr>
          <a:lstStyle/>
          <a:p>
            <a:pPr marL="342900" lvl="0" indent="-342900"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VS Code (Visual Studio Code)</a:t>
            </a:r>
            <a:r>
              <a:rPr lang="en-US" altLang="en-US" sz="2000" dirty="0">
                <a:solidFill>
                  <a:schemeClr val="tx1"/>
                </a:solidFill>
                <a:latin typeface="Times New Roman" panose="02020603050405020304" pitchFamily="18" charset="0"/>
                <a:cs typeface="Times New Roman" panose="02020603050405020304" pitchFamily="18" charset="0"/>
              </a:rPr>
              <a:t> –code editor used to run Python code locally.</a:t>
            </a:r>
          </a:p>
          <a:p>
            <a:pPr lvl="0" eaLnBrk="0" fontAlgn="base" hangingPunct="0">
              <a:spcBef>
                <a:spcPct val="0"/>
              </a:spcBef>
              <a:spcAft>
                <a:spcPct val="0"/>
              </a:spcAft>
              <a:buClrTx/>
            </a:pPr>
            <a:endParaRPr lang="en-I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Python 3.13.3 </a:t>
            </a:r>
            <a:r>
              <a:rPr lang="en-IN" dirty="0">
                <a:latin typeface="Times New Roman" panose="02020603050405020304" pitchFamily="18" charset="0"/>
                <a:cs typeface="Times New Roman" panose="02020603050405020304" pitchFamily="18" charset="0"/>
              </a:rPr>
              <a:t>– Primary language used for coding and data processing.</a:t>
            </a:r>
          </a:p>
          <a:p>
            <a:endParaRPr lang="en-I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set  A</a:t>
            </a:r>
            <a:r>
              <a:rPr lang="en-IN" dirty="0">
                <a:latin typeface="Times New Roman" panose="02020603050405020304" pitchFamily="18" charset="0"/>
                <a:cs typeface="Times New Roman" panose="02020603050405020304" pitchFamily="18" charset="0"/>
              </a:rPr>
              <a:t>cquired from : </a:t>
            </a:r>
            <a:r>
              <a:rPr lang="en-IN" dirty="0">
                <a:latin typeface="Times New Roman" panose="02020603050405020304" pitchFamily="18" charset="0"/>
                <a:cs typeface="Times New Roman" panose="02020603050405020304" pitchFamily="18" charset="0"/>
                <a:hlinkClick r:id="rId2"/>
              </a:rPr>
              <a:t>https://www.data.gov.in</a:t>
            </a:r>
            <a:r>
              <a:rPr lang="en-IN"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Libraries like</a:t>
            </a:r>
          </a:p>
          <a:p>
            <a:r>
              <a:rPr lang="en-IN" b="1" dirty="0">
                <a:latin typeface="Times New Roman" panose="02020603050405020304" pitchFamily="18" charset="0"/>
                <a:cs typeface="Times New Roman" panose="02020603050405020304" pitchFamily="18" charset="0"/>
              </a:rPr>
              <a:t>	Pandas</a:t>
            </a:r>
            <a:r>
              <a:rPr lang="en-IN" dirty="0">
                <a:latin typeface="Times New Roman" panose="02020603050405020304" pitchFamily="18" charset="0"/>
                <a:cs typeface="Times New Roman" panose="02020603050405020304" pitchFamily="18" charset="0"/>
              </a:rPr>
              <a:t> – For data loading and manipulation.</a:t>
            </a:r>
          </a:p>
          <a:p>
            <a:r>
              <a:rPr lang="en-IN" b="1" dirty="0">
                <a:latin typeface="Times New Roman" panose="02020603050405020304" pitchFamily="18" charset="0"/>
                <a:cs typeface="Times New Roman" panose="02020603050405020304" pitchFamily="18" charset="0"/>
              </a:rPr>
              <a:t>	NumPy</a:t>
            </a:r>
            <a:r>
              <a:rPr lang="en-IN" dirty="0">
                <a:latin typeface="Times New Roman" panose="02020603050405020304" pitchFamily="18" charset="0"/>
                <a:cs typeface="Times New Roman" panose="02020603050405020304" pitchFamily="18" charset="0"/>
              </a:rPr>
              <a:t> – For numerical operations.</a:t>
            </a:r>
          </a:p>
          <a:p>
            <a:r>
              <a:rPr lang="en-IN" b="1" dirty="0">
                <a:latin typeface="Times New Roman" panose="02020603050405020304" pitchFamily="18" charset="0"/>
                <a:cs typeface="Times New Roman" panose="02020603050405020304" pitchFamily="18" charset="0"/>
              </a:rPr>
              <a:t>	Matplotlib &amp; Seaborn</a:t>
            </a:r>
            <a:r>
              <a:rPr lang="en-IN" dirty="0">
                <a:latin typeface="Times New Roman" panose="02020603050405020304" pitchFamily="18" charset="0"/>
                <a:cs typeface="Times New Roman" panose="02020603050405020304" pitchFamily="18" charset="0"/>
              </a:rPr>
              <a:t> – For data visualization, etc.</a:t>
            </a:r>
          </a:p>
          <a:p>
            <a:endParaRPr lang="en-I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Scikit-learn (</a:t>
            </a:r>
            <a:r>
              <a:rPr lang="en-IN" b="1" dirty="0" err="1">
                <a:latin typeface="Times New Roman" panose="02020603050405020304" pitchFamily="18" charset="0"/>
                <a:cs typeface="Times New Roman" panose="02020603050405020304" pitchFamily="18" charset="0"/>
              </a:rPr>
              <a:t>sklearn</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 For building and evaluating the regression models (Linear Regression, Decision Tree Regressor).</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4" name="TextBox 3">
            <a:extLst>
              <a:ext uri="{FF2B5EF4-FFF2-40B4-BE49-F238E27FC236}">
                <a16:creationId xmlns:a16="http://schemas.microsoft.com/office/drawing/2014/main" id="{651EF3ED-5612-CDB5-AEBC-0A9089982D00}"/>
              </a:ext>
            </a:extLst>
          </p:cNvPr>
          <p:cNvSpPr txBox="1"/>
          <p:nvPr/>
        </p:nvSpPr>
        <p:spPr>
          <a:xfrm>
            <a:off x="531394" y="1649759"/>
            <a:ext cx="10919201" cy="4524315"/>
          </a:xfrm>
          <a:prstGeom prst="rect">
            <a:avLst/>
          </a:prstGeom>
          <a:noFill/>
        </p:spPr>
        <p:txBody>
          <a:bodyPr wrap="square">
            <a:spAutoFit/>
          </a:bodyPr>
          <a:lstStyle/>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Data Collection</a:t>
            </a:r>
            <a:r>
              <a:rPr lang="en-US" altLang="en-US" sz="1800" dirty="0">
                <a:solidFill>
                  <a:schemeClr val="tx1"/>
                </a:solidFill>
                <a:latin typeface="Times New Roman" panose="02020603050405020304" pitchFamily="18" charset="0"/>
                <a:cs typeface="Times New Roman" panose="02020603050405020304" pitchFamily="18" charset="0"/>
              </a:rPr>
              <a:t>: The dataset containing country-level CO₂ emissions, GDP, urban population, </a:t>
            </a:r>
            <a:r>
              <a:rPr lang="en-US" altLang="en-US" sz="1800" dirty="0" err="1">
                <a:solidFill>
                  <a:schemeClr val="tx1"/>
                </a:solidFill>
                <a:latin typeface="Times New Roman" panose="02020603050405020304" pitchFamily="18" charset="0"/>
                <a:cs typeface="Times New Roman" panose="02020603050405020304" pitchFamily="18" charset="0"/>
              </a:rPr>
              <a:t>etc</a:t>
            </a:r>
            <a:r>
              <a:rPr lang="en-US" altLang="en-US" sz="1800" dirty="0">
                <a:solidFill>
                  <a:schemeClr val="tx1"/>
                </a:solidFill>
                <a:latin typeface="Times New Roman" panose="02020603050405020304" pitchFamily="18" charset="0"/>
                <a:cs typeface="Times New Roman" panose="02020603050405020304" pitchFamily="18" charset="0"/>
              </a:rPr>
              <a:t> was imported from a CSV file.</a:t>
            </a:r>
          </a:p>
          <a:p>
            <a:pPr marL="285750" lvl="0" indent="-285750" eaLnBrk="0" fontAlgn="base" hangingPunct="0">
              <a:spcBef>
                <a:spcPct val="0"/>
              </a:spcBef>
              <a:spcAft>
                <a:spcPct val="0"/>
              </a:spcAft>
              <a:buClrTx/>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Data Preprocessing &amp; EDA</a:t>
            </a:r>
            <a:r>
              <a:rPr lang="en-US" altLang="en-US" sz="1800" dirty="0">
                <a:solidFill>
                  <a:schemeClr val="tx1"/>
                </a:solidFill>
                <a:latin typeface="Times New Roman" panose="02020603050405020304" pitchFamily="18" charset="0"/>
                <a:cs typeface="Times New Roman" panose="02020603050405020304" pitchFamily="18" charset="0"/>
              </a:rPr>
              <a:t>: Missing values were handled, and outliers were removed. </a:t>
            </a:r>
          </a:p>
          <a:p>
            <a:pPr lvl="0" eaLnBrk="0" fontAlgn="base" hangingPunct="0">
              <a:spcBef>
                <a:spcPct val="0"/>
              </a:spcBef>
              <a:spcAft>
                <a:spcPct val="0"/>
              </a:spcAft>
              <a:buClrTx/>
              <a:buFontTx/>
              <a:buChar char="•"/>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Model Selection</a:t>
            </a:r>
            <a:r>
              <a:rPr lang="en-US" altLang="en-US" sz="1800" dirty="0">
                <a:solidFill>
                  <a:schemeClr val="tx1"/>
                </a:solidFill>
                <a:latin typeface="Times New Roman" panose="02020603050405020304" pitchFamily="18" charset="0"/>
                <a:cs typeface="Times New Roman" panose="02020603050405020304" pitchFamily="18" charset="0"/>
              </a:rPr>
              <a:t>: Linear Regression was used as a baseline model. Random Forest Regressor was chosen for its ability to handle complex, non-linear relationships.</a:t>
            </a:r>
          </a:p>
          <a:p>
            <a:pPr marL="285750" lvl="0" indent="-285750" eaLnBrk="0" fontAlgn="base" hangingPunct="0">
              <a:spcBef>
                <a:spcPct val="0"/>
              </a:spcBef>
              <a:spcAft>
                <a:spcPct val="0"/>
              </a:spcAft>
              <a:buClrTx/>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Model Training</a:t>
            </a:r>
            <a:r>
              <a:rPr lang="en-US" altLang="en-US" sz="1800" dirty="0">
                <a:solidFill>
                  <a:schemeClr val="tx1"/>
                </a:solidFill>
                <a:latin typeface="Times New Roman" panose="02020603050405020304" pitchFamily="18" charset="0"/>
                <a:cs typeface="Times New Roman" panose="02020603050405020304" pitchFamily="18" charset="0"/>
              </a:rPr>
              <a:t>: Data was split into training and testing sets. Models were trained using scikit-learn, and hyperparameters were tuned using </a:t>
            </a:r>
            <a:r>
              <a:rPr lang="en-US" altLang="en-US" sz="1800" dirty="0" err="1">
                <a:solidFill>
                  <a:schemeClr val="tx1"/>
                </a:solidFill>
                <a:latin typeface="Times New Roman" panose="02020603050405020304" pitchFamily="18" charset="0"/>
                <a:cs typeface="Times New Roman" panose="02020603050405020304" pitchFamily="18" charset="0"/>
              </a:rPr>
              <a:t>RandomizedSearchCV</a:t>
            </a:r>
            <a:r>
              <a:rPr lang="en-US" altLang="en-US" sz="1800" dirty="0">
                <a:solidFill>
                  <a:schemeClr val="tx1"/>
                </a:solidFill>
                <a:latin typeface="Times New Roman" panose="02020603050405020304" pitchFamily="18" charset="0"/>
                <a:cs typeface="Times New Roman" panose="02020603050405020304" pitchFamily="18" charset="0"/>
              </a:rPr>
              <a:t>.</a:t>
            </a:r>
          </a:p>
          <a:p>
            <a:pPr marL="285750" lvl="0" indent="-285750" eaLnBrk="0" fontAlgn="base" hangingPunct="0">
              <a:spcBef>
                <a:spcPct val="0"/>
              </a:spcBef>
              <a:spcAft>
                <a:spcPct val="0"/>
              </a:spcAft>
              <a:buClrTx/>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Evaluation</a:t>
            </a:r>
            <a:r>
              <a:rPr lang="en-US" altLang="en-US" sz="1800" dirty="0">
                <a:solidFill>
                  <a:schemeClr val="tx1"/>
                </a:solidFill>
                <a:latin typeface="Times New Roman" panose="02020603050405020304" pitchFamily="18" charset="0"/>
                <a:cs typeface="Times New Roman" panose="02020603050405020304" pitchFamily="18" charset="0"/>
              </a:rPr>
              <a:t>: Models were evaluated using R², MSE and RMSE score. It performed best with a test R² of ~0.986 or 98.6%.</a:t>
            </a:r>
          </a:p>
          <a:p>
            <a:pPr lvl="0" eaLnBrk="0" fontAlgn="base" hangingPunct="0">
              <a:spcBef>
                <a:spcPct val="0"/>
              </a:spcBef>
              <a:spcAft>
                <a:spcPct val="0"/>
              </a:spcAft>
              <a:buClrTx/>
              <a:buFontTx/>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Prediction</a:t>
            </a:r>
            <a:r>
              <a:rPr lang="en-US" altLang="en-US" sz="1800" dirty="0">
                <a:solidFill>
                  <a:schemeClr val="tx1"/>
                </a:solidFill>
                <a:latin typeface="Times New Roman" panose="02020603050405020304" pitchFamily="18" charset="0"/>
                <a:cs typeface="Times New Roman" panose="02020603050405020304" pitchFamily="18" charset="0"/>
              </a:rPr>
              <a:t>: The final model was used to forecast CO₂ emissions 20,25 years into the future for selected countries using projected feature values.</a:t>
            </a: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5" name="TextBox 4">
            <a:extLst>
              <a:ext uri="{FF2B5EF4-FFF2-40B4-BE49-F238E27FC236}">
                <a16:creationId xmlns:a16="http://schemas.microsoft.com/office/drawing/2014/main" id="{A17000A8-AF74-3676-58D8-D5F23C565F52}"/>
              </a:ext>
            </a:extLst>
          </p:cNvPr>
          <p:cNvSpPr txBox="1"/>
          <p:nvPr/>
        </p:nvSpPr>
        <p:spPr>
          <a:xfrm>
            <a:off x="481263" y="1692442"/>
            <a:ext cx="10740190" cy="4586256"/>
          </a:xfrm>
          <a:prstGeom prst="rect">
            <a:avLst/>
          </a:prstGeom>
          <a:noFill/>
        </p:spPr>
        <p:txBody>
          <a:bodyPr wrap="square" rtlCol="0">
            <a:spAutoFit/>
          </a:bodyPr>
          <a:lstStyle/>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Each year, human activities release more carbon dioxide into the atmosphere than natural processes can remove, causing the amount of carbon dioxide in the atmosphere to increase.</a:t>
            </a: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Atmospheric carbon dioxide is now 50 percent higher than it was before the Industrial Revolution.</a:t>
            </a: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If global energy demand continues to grow rapidly and we meet it mostly with fossil fuels, human emissions of carbon dioxide could reach 75 billion tons per year or more by the end of the century. Atmospheric carbon dioxide amounts could be 800 ppm or higher -conditions not seen on Earth for close to 50 million years.</a:t>
            </a:r>
          </a:p>
          <a:p>
            <a:pPr marL="342900" indent="-342900">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ocean has absorbed enough carbon dioxide to lower its pH by 0.1 units, a 30% increase in acidity. </a:t>
            </a:r>
          </a:p>
          <a:p>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By adding more carbon dioxide to the atmosphere, people are amplifying the natural greenhouse effect, causing global temperature to rise. According to observations and analysis by the NOAA Global Monitoring Laboratory, carbon dioxide alone is responsible for about 80 percent of the </a:t>
            </a:r>
            <a:r>
              <a:rPr lang="en-US" dirty="0">
                <a:latin typeface="Times New Roman" panose="02020603050405020304" pitchFamily="18" charset="0"/>
                <a:cs typeface="Times New Roman" panose="02020603050405020304" pitchFamily="18" charset="0"/>
                <a:hlinkClick r:id="rId2" tooltip="(opens in a new window)"/>
              </a:rPr>
              <a:t>total heating influence</a:t>
            </a:r>
            <a:r>
              <a:rPr lang="en-US" dirty="0">
                <a:latin typeface="Times New Roman" panose="02020603050405020304" pitchFamily="18" charset="0"/>
                <a:cs typeface="Times New Roman" panose="02020603050405020304" pitchFamily="18" charset="0"/>
              </a:rPr>
              <a:t> of all human-produced greenhouse gases since 1990</a:t>
            </a:r>
            <a:r>
              <a:rPr lang="en-US" dirty="0"/>
              <a:t>.</a:t>
            </a:r>
          </a:p>
          <a:p>
            <a:endParaRPr lang="en-IN" sz="1800" b="1" dirty="0"/>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a:extLst>
              <a:ext uri="{FF2B5EF4-FFF2-40B4-BE49-F238E27FC236}">
                <a16:creationId xmlns:a16="http://schemas.microsoft.com/office/drawing/2014/main" id="{78FD7335-B300-86B0-E9CA-AC8FD37F8C86}"/>
              </a:ext>
            </a:extLst>
          </p:cNvPr>
          <p:cNvSpPr txBox="1"/>
          <p:nvPr/>
        </p:nvSpPr>
        <p:spPr>
          <a:xfrm>
            <a:off x="255103" y="1710160"/>
            <a:ext cx="11399485" cy="3416320"/>
          </a:xfrm>
          <a:prstGeom prst="rect">
            <a:avLst/>
          </a:prstGeom>
          <a:noFill/>
        </p:spPr>
        <p:txBody>
          <a:bodyPr wrap="square" rtlCol="0">
            <a:spAutoFit/>
          </a:bodyPr>
          <a:lstStyle/>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address the issue of growing CO₂ emissions and anticipate their future impact, I built a machine learning model that </a:t>
            </a:r>
            <a:r>
              <a:rPr lang="en-US" sz="1800" b="1" dirty="0">
                <a:latin typeface="Times New Roman" panose="02020603050405020304" pitchFamily="18" charset="0"/>
                <a:cs typeface="Times New Roman" panose="02020603050405020304" pitchFamily="18" charset="0"/>
              </a:rPr>
              <a:t>predicts a country's future CO₂ emissions (2010 - 2030) </a:t>
            </a:r>
            <a:r>
              <a:rPr lang="en-US" sz="1800" dirty="0">
                <a:latin typeface="Times New Roman" panose="02020603050405020304" pitchFamily="18" charset="0"/>
                <a:cs typeface="Times New Roman" panose="02020603050405020304" pitchFamily="18" charset="0"/>
              </a:rPr>
              <a:t>based on its current per capita CO₂ emission values.</a:t>
            </a: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can help Engineers and Policymakers make informed decisions about sustainable development, carbon budgeting and emission reduction strategies. </a:t>
            </a:r>
            <a:r>
              <a:rPr lang="en-US" sz="1800" b="1" dirty="0">
                <a:latin typeface="Times New Roman" panose="02020603050405020304" pitchFamily="18" charset="0"/>
                <a:cs typeface="Times New Roman" panose="02020603050405020304" pitchFamily="18" charset="0"/>
              </a:rPr>
              <a:t>Accurate forecasting models</a:t>
            </a:r>
            <a:r>
              <a:rPr lang="en-US" sz="1800" dirty="0">
                <a:latin typeface="Times New Roman" panose="02020603050405020304" pitchFamily="18" charset="0"/>
                <a:cs typeface="Times New Roman" panose="02020603050405020304" pitchFamily="18" charset="0"/>
              </a:rPr>
              <a:t> can guide national energy planning, and prioritize investment in </a:t>
            </a:r>
            <a:r>
              <a:rPr lang="en-US" sz="1800" b="1" dirty="0">
                <a:latin typeface="Times New Roman" panose="02020603050405020304" pitchFamily="18" charset="0"/>
                <a:cs typeface="Times New Roman" panose="02020603050405020304" pitchFamily="18" charset="0"/>
              </a:rPr>
              <a:t>renewable energy sources</a:t>
            </a:r>
            <a:r>
              <a:rPr lang="en-US" sz="1800" dirty="0">
                <a:latin typeface="Times New Roman" panose="02020603050405020304" pitchFamily="18" charset="0"/>
                <a:cs typeface="Times New Roman" panose="02020603050405020304" pitchFamily="18" charset="0"/>
              </a:rPr>
              <a:t>. By identifying trends and high-risk regions, such models can also support global efforts to mitigate climate change more effectively.</a:t>
            </a:r>
          </a:p>
          <a:p>
            <a:pPr marL="3429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t>To build this model, I used a machine learning technique called </a:t>
            </a:r>
            <a:r>
              <a:rPr lang="en-US" sz="1800" b="1" dirty="0"/>
              <a:t>Random Forest Regressor</a:t>
            </a:r>
            <a:r>
              <a:rPr lang="en-US" sz="1800" dirty="0"/>
              <a:t>, which works well for finding patterns in complex data. Key features such as energy use per capita, GDP, urban population, and GNI were selected to ensure only the most relevant data was used. The model was trained using past data and tested to make sure it was accurate using R² and RMSE metrics</a:t>
            </a:r>
            <a:endParaRPr lang="en-US"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A680F2D-69DC-7F72-5258-CF7295F1271C}"/>
              </a:ext>
            </a:extLst>
          </p:cNvPr>
          <p:cNvSpPr txBox="1"/>
          <p:nvPr/>
        </p:nvSpPr>
        <p:spPr>
          <a:xfrm>
            <a:off x="385011" y="5614737"/>
            <a:ext cx="10154652" cy="379656"/>
          </a:xfrm>
          <a:prstGeom prst="rect">
            <a:avLst/>
          </a:prstGeom>
          <a:noFill/>
        </p:spPr>
        <p:txBody>
          <a:bodyPr wrap="square" rtlCol="0">
            <a:spAutoFit/>
          </a:bodyPr>
          <a:lstStyle/>
          <a:p>
            <a:r>
              <a:rPr lang="en-IN" dirty="0" err="1"/>
              <a:t>GitLink</a:t>
            </a:r>
            <a:r>
              <a:rPr lang="en-IN" dirty="0"/>
              <a:t>:</a:t>
            </a: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6" name="Picture 55">
            <a:extLst>
              <a:ext uri="{FF2B5EF4-FFF2-40B4-BE49-F238E27FC236}">
                <a16:creationId xmlns:a16="http://schemas.microsoft.com/office/drawing/2014/main" id="{A262A70D-7EDD-E906-8F69-5BD055F68FEA}"/>
              </a:ext>
            </a:extLst>
          </p:cNvPr>
          <p:cNvPicPr>
            <a:picLocks noChangeAspect="1"/>
          </p:cNvPicPr>
          <p:nvPr/>
        </p:nvPicPr>
        <p:blipFill>
          <a:blip r:embed="rId2"/>
          <a:srcRect t="72694" r="5450"/>
          <a:stretch>
            <a:fillRect/>
          </a:stretch>
        </p:blipFill>
        <p:spPr>
          <a:xfrm>
            <a:off x="2212251" y="3353693"/>
            <a:ext cx="5840888" cy="255825"/>
          </a:xfrm>
          <a:prstGeom prst="rect">
            <a:avLst/>
          </a:prstGeom>
        </p:spPr>
      </p:pic>
      <p:pic>
        <p:nvPicPr>
          <p:cNvPr id="58" name="Picture 57">
            <a:extLst>
              <a:ext uri="{FF2B5EF4-FFF2-40B4-BE49-F238E27FC236}">
                <a16:creationId xmlns:a16="http://schemas.microsoft.com/office/drawing/2014/main" id="{BE26A232-0C23-9DBD-D177-05A6C92CB04A}"/>
              </a:ext>
            </a:extLst>
          </p:cNvPr>
          <p:cNvPicPr>
            <a:picLocks noChangeAspect="1"/>
          </p:cNvPicPr>
          <p:nvPr/>
        </p:nvPicPr>
        <p:blipFill>
          <a:blip r:embed="rId3"/>
          <a:stretch>
            <a:fillRect/>
          </a:stretch>
        </p:blipFill>
        <p:spPr>
          <a:xfrm>
            <a:off x="2212251" y="1706826"/>
            <a:ext cx="5840888" cy="1646867"/>
          </a:xfrm>
          <a:prstGeom prst="rect">
            <a:avLst/>
          </a:prstGeom>
        </p:spPr>
      </p:pic>
      <p:sp>
        <p:nvSpPr>
          <p:cNvPr id="59" name="TextBox 58">
            <a:extLst>
              <a:ext uri="{FF2B5EF4-FFF2-40B4-BE49-F238E27FC236}">
                <a16:creationId xmlns:a16="http://schemas.microsoft.com/office/drawing/2014/main" id="{F4F823AC-49BF-81D1-8181-3205594012E1}"/>
              </a:ext>
            </a:extLst>
          </p:cNvPr>
          <p:cNvSpPr txBox="1"/>
          <p:nvPr/>
        </p:nvSpPr>
        <p:spPr>
          <a:xfrm>
            <a:off x="255104" y="1636295"/>
            <a:ext cx="3883759" cy="379656"/>
          </a:xfrm>
          <a:prstGeom prst="rect">
            <a:avLst/>
          </a:prstGeom>
          <a:noFill/>
        </p:spPr>
        <p:txBody>
          <a:bodyPr wrap="square" rtlCol="0">
            <a:spAutoFit/>
          </a:bodyPr>
          <a:lstStyle/>
          <a:p>
            <a:r>
              <a:rPr lang="en-IN" sz="1800" dirty="0"/>
              <a:t>Libraries used:</a:t>
            </a:r>
          </a:p>
        </p:txBody>
      </p:sp>
      <p:sp>
        <p:nvSpPr>
          <p:cNvPr id="60" name="TextBox 59">
            <a:extLst>
              <a:ext uri="{FF2B5EF4-FFF2-40B4-BE49-F238E27FC236}">
                <a16:creationId xmlns:a16="http://schemas.microsoft.com/office/drawing/2014/main" id="{4C226A5F-4702-8BC8-D7CE-58DC0D073759}"/>
              </a:ext>
            </a:extLst>
          </p:cNvPr>
          <p:cNvSpPr txBox="1"/>
          <p:nvPr/>
        </p:nvSpPr>
        <p:spPr>
          <a:xfrm>
            <a:off x="344905" y="4170947"/>
            <a:ext cx="1868906" cy="338554"/>
          </a:xfrm>
          <a:prstGeom prst="rect">
            <a:avLst/>
          </a:prstGeom>
          <a:noFill/>
        </p:spPr>
        <p:txBody>
          <a:bodyPr wrap="square" rtlCol="0">
            <a:spAutoFit/>
          </a:bodyPr>
          <a:lstStyle/>
          <a:p>
            <a:r>
              <a:rPr lang="en-IN" sz="1600" dirty="0"/>
              <a:t>Data Cleaning:</a:t>
            </a:r>
          </a:p>
        </p:txBody>
      </p:sp>
      <p:pic>
        <p:nvPicPr>
          <p:cNvPr id="81" name="Picture 80">
            <a:extLst>
              <a:ext uri="{FF2B5EF4-FFF2-40B4-BE49-F238E27FC236}">
                <a16:creationId xmlns:a16="http://schemas.microsoft.com/office/drawing/2014/main" id="{16A8E5C0-5490-D1BE-CBAA-0386584D5D7F}"/>
              </a:ext>
            </a:extLst>
          </p:cNvPr>
          <p:cNvPicPr>
            <a:picLocks noChangeAspect="1"/>
          </p:cNvPicPr>
          <p:nvPr/>
        </p:nvPicPr>
        <p:blipFill>
          <a:blip r:embed="rId4"/>
          <a:srcRect r="3963"/>
          <a:stretch>
            <a:fillRect/>
          </a:stretch>
        </p:blipFill>
        <p:spPr>
          <a:xfrm>
            <a:off x="2212251" y="4060458"/>
            <a:ext cx="8552002" cy="2529886"/>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D62358-5A35-7891-FE6E-CDD76FEF3891}"/>
              </a:ext>
            </a:extLst>
          </p:cNvPr>
          <p:cNvSpPr txBox="1"/>
          <p:nvPr/>
        </p:nvSpPr>
        <p:spPr>
          <a:xfrm>
            <a:off x="465221" y="3818020"/>
            <a:ext cx="2165684" cy="338554"/>
          </a:xfrm>
          <a:prstGeom prst="rect">
            <a:avLst/>
          </a:prstGeom>
          <a:noFill/>
        </p:spPr>
        <p:txBody>
          <a:bodyPr wrap="square" rtlCol="0">
            <a:spAutoFit/>
          </a:bodyPr>
          <a:lstStyle/>
          <a:p>
            <a:r>
              <a:rPr lang="en-IN" sz="1600" dirty="0"/>
              <a:t>EDA:</a:t>
            </a:r>
          </a:p>
        </p:txBody>
      </p:sp>
      <p:pic>
        <p:nvPicPr>
          <p:cNvPr id="4" name="Picture 3">
            <a:extLst>
              <a:ext uri="{FF2B5EF4-FFF2-40B4-BE49-F238E27FC236}">
                <a16:creationId xmlns:a16="http://schemas.microsoft.com/office/drawing/2014/main" id="{F9B78B69-96CC-C0BA-F666-7FF410109A76}"/>
              </a:ext>
            </a:extLst>
          </p:cNvPr>
          <p:cNvPicPr>
            <a:picLocks noChangeAspect="1"/>
          </p:cNvPicPr>
          <p:nvPr/>
        </p:nvPicPr>
        <p:blipFill>
          <a:blip r:embed="rId2"/>
          <a:stretch>
            <a:fillRect/>
          </a:stretch>
        </p:blipFill>
        <p:spPr>
          <a:xfrm>
            <a:off x="1267327" y="3818020"/>
            <a:ext cx="9512968" cy="1949117"/>
          </a:xfrm>
          <a:prstGeom prst="rect">
            <a:avLst/>
          </a:prstGeom>
        </p:spPr>
      </p:pic>
      <p:cxnSp>
        <p:nvCxnSpPr>
          <p:cNvPr id="70" name="Straight Arrow Connector 69">
            <a:extLst>
              <a:ext uri="{FF2B5EF4-FFF2-40B4-BE49-F238E27FC236}">
                <a16:creationId xmlns:a16="http://schemas.microsoft.com/office/drawing/2014/main" id="{F1852B0B-97DA-7287-9336-E028A9917352}"/>
              </a:ext>
            </a:extLst>
          </p:cNvPr>
          <p:cNvCxnSpPr>
            <a:cxnSpLocks/>
          </p:cNvCxnSpPr>
          <p:nvPr/>
        </p:nvCxnSpPr>
        <p:spPr>
          <a:xfrm>
            <a:off x="850231" y="2136772"/>
            <a:ext cx="417096" cy="254203"/>
          </a:xfrm>
          <a:prstGeom prst="straightConnector1">
            <a:avLst/>
          </a:prstGeom>
          <a:ln>
            <a:tailEnd type="triangle"/>
          </a:ln>
          <a:effectLst/>
        </p:spPr>
        <p:style>
          <a:lnRef idx="3">
            <a:schemeClr val="accent1"/>
          </a:lnRef>
          <a:fillRef idx="0">
            <a:schemeClr val="accent1"/>
          </a:fillRef>
          <a:effectRef idx="2">
            <a:schemeClr val="accent1"/>
          </a:effectRef>
          <a:fontRef idx="minor">
            <a:schemeClr val="tx1"/>
          </a:fontRef>
        </p:style>
      </p:cxnSp>
      <p:sp>
        <p:nvSpPr>
          <p:cNvPr id="73" name="TextBox 72">
            <a:extLst>
              <a:ext uri="{FF2B5EF4-FFF2-40B4-BE49-F238E27FC236}">
                <a16:creationId xmlns:a16="http://schemas.microsoft.com/office/drawing/2014/main" id="{0452F479-1290-0E5E-44C9-1FB8C9135E1E}"/>
              </a:ext>
            </a:extLst>
          </p:cNvPr>
          <p:cNvSpPr txBox="1"/>
          <p:nvPr/>
        </p:nvSpPr>
        <p:spPr>
          <a:xfrm>
            <a:off x="204537" y="1679098"/>
            <a:ext cx="1708484" cy="584775"/>
          </a:xfrm>
          <a:prstGeom prst="rect">
            <a:avLst/>
          </a:prstGeom>
          <a:noFill/>
        </p:spPr>
        <p:txBody>
          <a:bodyPr wrap="square" rtlCol="0">
            <a:spAutoFit/>
          </a:bodyPr>
          <a:lstStyle/>
          <a:p>
            <a:r>
              <a:rPr lang="en-IN" sz="1600" dirty="0"/>
              <a:t>Cleaned </a:t>
            </a:r>
          </a:p>
          <a:p>
            <a:r>
              <a:rPr lang="en-IN" sz="1600" dirty="0"/>
              <a:t>Data</a:t>
            </a:r>
          </a:p>
        </p:txBody>
      </p:sp>
      <p:pic>
        <p:nvPicPr>
          <p:cNvPr id="5" name="Picture 4">
            <a:extLst>
              <a:ext uri="{FF2B5EF4-FFF2-40B4-BE49-F238E27FC236}">
                <a16:creationId xmlns:a16="http://schemas.microsoft.com/office/drawing/2014/main" id="{21775C45-A0B3-6A4A-F669-C6EB5A5F1C19}"/>
              </a:ext>
            </a:extLst>
          </p:cNvPr>
          <p:cNvPicPr>
            <a:picLocks noChangeAspect="1"/>
          </p:cNvPicPr>
          <p:nvPr/>
        </p:nvPicPr>
        <p:blipFill>
          <a:blip r:embed="rId3"/>
          <a:stretch>
            <a:fillRect/>
          </a:stretch>
        </p:blipFill>
        <p:spPr>
          <a:xfrm>
            <a:off x="1267326" y="990483"/>
            <a:ext cx="10635915" cy="2292577"/>
          </a:xfrm>
          <a:prstGeom prst="rect">
            <a:avLst/>
          </a:prstGeom>
        </p:spPr>
      </p:pic>
    </p:spTree>
    <p:extLst>
      <p:ext uri="{BB962C8B-B14F-4D97-AF65-F5344CB8AC3E}">
        <p14:creationId xmlns:p14="http://schemas.microsoft.com/office/powerpoint/2010/main" val="3231889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8456CE-1E35-467D-EAA4-D7A28BA9C3BF}"/>
              </a:ext>
            </a:extLst>
          </p:cNvPr>
          <p:cNvPicPr>
            <a:picLocks noChangeAspect="1"/>
          </p:cNvPicPr>
          <p:nvPr/>
        </p:nvPicPr>
        <p:blipFill>
          <a:blip r:embed="rId2"/>
          <a:stretch>
            <a:fillRect/>
          </a:stretch>
        </p:blipFill>
        <p:spPr>
          <a:xfrm>
            <a:off x="391254" y="907878"/>
            <a:ext cx="5704746" cy="3576730"/>
          </a:xfrm>
          <a:prstGeom prst="rect">
            <a:avLst/>
          </a:prstGeom>
        </p:spPr>
      </p:pic>
      <p:pic>
        <p:nvPicPr>
          <p:cNvPr id="5" name="Picture 4">
            <a:extLst>
              <a:ext uri="{FF2B5EF4-FFF2-40B4-BE49-F238E27FC236}">
                <a16:creationId xmlns:a16="http://schemas.microsoft.com/office/drawing/2014/main" id="{3786F523-188D-A5D4-2FD7-9100618EB128}"/>
              </a:ext>
            </a:extLst>
          </p:cNvPr>
          <p:cNvPicPr>
            <a:picLocks noChangeAspect="1"/>
          </p:cNvPicPr>
          <p:nvPr/>
        </p:nvPicPr>
        <p:blipFill>
          <a:blip r:embed="rId3"/>
          <a:srcRect l="1766" t="27598"/>
          <a:stretch>
            <a:fillRect/>
          </a:stretch>
        </p:blipFill>
        <p:spPr>
          <a:xfrm>
            <a:off x="6248399" y="2061412"/>
            <a:ext cx="5799222" cy="3324980"/>
          </a:xfrm>
          <a:prstGeom prst="rect">
            <a:avLst/>
          </a:prstGeom>
          <a:ln w="28575" cap="sq">
            <a:solidFill>
              <a:srgbClr val="000000"/>
            </a:solidFill>
            <a:miter lim="800000"/>
          </a:ln>
          <a:effectLst/>
        </p:spPr>
      </p:pic>
      <p:graphicFrame>
        <p:nvGraphicFramePr>
          <p:cNvPr id="10" name="Table 9">
            <a:extLst>
              <a:ext uri="{FF2B5EF4-FFF2-40B4-BE49-F238E27FC236}">
                <a16:creationId xmlns:a16="http://schemas.microsoft.com/office/drawing/2014/main" id="{77F163ED-EB79-160E-1953-9CAC22381475}"/>
              </a:ext>
            </a:extLst>
          </p:cNvPr>
          <p:cNvGraphicFramePr>
            <a:graphicFrameLocks noGrp="1"/>
          </p:cNvGraphicFramePr>
          <p:nvPr>
            <p:extLst>
              <p:ext uri="{D42A27DB-BD31-4B8C-83A1-F6EECF244321}">
                <p14:modId xmlns:p14="http://schemas.microsoft.com/office/powerpoint/2010/main" val="350382280"/>
              </p:ext>
            </p:extLst>
          </p:nvPr>
        </p:nvGraphicFramePr>
        <p:xfrm>
          <a:off x="7483642" y="5573132"/>
          <a:ext cx="4467726" cy="335280"/>
        </p:xfrm>
        <a:graphic>
          <a:graphicData uri="http://schemas.openxmlformats.org/drawingml/2006/table">
            <a:tbl>
              <a:tblPr/>
              <a:tblGrid>
                <a:gridCol w="4467726">
                  <a:extLst>
                    <a:ext uri="{9D8B030D-6E8A-4147-A177-3AD203B41FA5}">
                      <a16:colId xmlns:a16="http://schemas.microsoft.com/office/drawing/2014/main" val="1263718902"/>
                    </a:ext>
                  </a:extLst>
                </a:gridCol>
              </a:tblGrid>
              <a:tr h="0">
                <a:tc>
                  <a:txBody>
                    <a:bodyPr/>
                    <a:lstStyle/>
                    <a:p>
                      <a:pPr>
                        <a:buNone/>
                      </a:pPr>
                      <a:r>
                        <a:rPr lang="en-IN" sz="1600" dirty="0"/>
                        <a:t>Line plot: Population vs CO₂ emissions</a:t>
                      </a:r>
                    </a:p>
                  </a:txBody>
                  <a:tcPr anchor="ctr">
                    <a:lnL>
                      <a:noFill/>
                    </a:lnL>
                    <a:lnR>
                      <a:noFill/>
                    </a:lnR>
                    <a:lnT>
                      <a:noFill/>
                    </a:lnT>
                    <a:lnB>
                      <a:noFill/>
                    </a:lnB>
                    <a:noFill/>
                  </a:tcPr>
                </a:tc>
                <a:extLst>
                  <a:ext uri="{0D108BD9-81ED-4DB2-BD59-A6C34878D82A}">
                    <a16:rowId xmlns:a16="http://schemas.microsoft.com/office/drawing/2014/main" val="324819080"/>
                  </a:ext>
                </a:extLst>
              </a:tr>
            </a:tbl>
          </a:graphicData>
        </a:graphic>
      </p:graphicFrame>
    </p:spTree>
    <p:extLst>
      <p:ext uri="{BB962C8B-B14F-4D97-AF65-F5344CB8AC3E}">
        <p14:creationId xmlns:p14="http://schemas.microsoft.com/office/powerpoint/2010/main" val="747982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F90CD-F276-119E-66DB-0AFED890BBC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7E3065C-8716-9C09-1AB5-B8C571CAF869}"/>
              </a:ext>
            </a:extLst>
          </p:cNvPr>
          <p:cNvPicPr>
            <a:picLocks noChangeAspect="1"/>
          </p:cNvPicPr>
          <p:nvPr/>
        </p:nvPicPr>
        <p:blipFill>
          <a:blip r:embed="rId2"/>
          <a:stretch>
            <a:fillRect/>
          </a:stretch>
        </p:blipFill>
        <p:spPr>
          <a:xfrm>
            <a:off x="1716506" y="938463"/>
            <a:ext cx="5381779" cy="3320715"/>
          </a:xfrm>
          <a:prstGeom prst="rect">
            <a:avLst/>
          </a:prstGeom>
          <a:ln w="28575" cap="sq">
            <a:solidFill>
              <a:srgbClr val="000000"/>
            </a:solidFill>
            <a:miter lim="800000"/>
          </a:ln>
          <a:effectLst/>
        </p:spPr>
      </p:pic>
      <p:sp>
        <p:nvSpPr>
          <p:cNvPr id="9" name="TextBox 8">
            <a:extLst>
              <a:ext uri="{FF2B5EF4-FFF2-40B4-BE49-F238E27FC236}">
                <a16:creationId xmlns:a16="http://schemas.microsoft.com/office/drawing/2014/main" id="{7E029915-033B-9B02-7CAA-659730C37E57}"/>
              </a:ext>
            </a:extLst>
          </p:cNvPr>
          <p:cNvSpPr txBox="1"/>
          <p:nvPr/>
        </p:nvSpPr>
        <p:spPr>
          <a:xfrm>
            <a:off x="7210664" y="3781926"/>
            <a:ext cx="3021931" cy="584775"/>
          </a:xfrm>
          <a:prstGeom prst="rect">
            <a:avLst/>
          </a:prstGeom>
          <a:noFill/>
        </p:spPr>
        <p:txBody>
          <a:bodyPr wrap="square">
            <a:spAutoFit/>
          </a:bodyPr>
          <a:lstStyle/>
          <a:p>
            <a:pPr algn="just"/>
            <a:r>
              <a:rPr lang="en-IN" sz="1600" dirty="0"/>
              <a:t>Impact of Urban Growth and Energy Use on CO₂ Emissions</a:t>
            </a:r>
          </a:p>
        </p:txBody>
      </p:sp>
      <p:sp>
        <p:nvSpPr>
          <p:cNvPr id="10" name="TextBox 9">
            <a:extLst>
              <a:ext uri="{FF2B5EF4-FFF2-40B4-BE49-F238E27FC236}">
                <a16:creationId xmlns:a16="http://schemas.microsoft.com/office/drawing/2014/main" id="{00CF96E4-967B-AD99-CD38-623DF58874FC}"/>
              </a:ext>
            </a:extLst>
          </p:cNvPr>
          <p:cNvSpPr txBox="1"/>
          <p:nvPr/>
        </p:nvSpPr>
        <p:spPr>
          <a:xfrm>
            <a:off x="264784" y="4800600"/>
            <a:ext cx="1451722" cy="338554"/>
          </a:xfrm>
          <a:prstGeom prst="rect">
            <a:avLst/>
          </a:prstGeom>
          <a:noFill/>
        </p:spPr>
        <p:txBody>
          <a:bodyPr wrap="square">
            <a:spAutoFit/>
          </a:bodyPr>
          <a:lstStyle/>
          <a:p>
            <a:r>
              <a:rPr lang="en-IN" sz="1600" dirty="0"/>
              <a:t>Model Setup:</a:t>
            </a:r>
          </a:p>
        </p:txBody>
      </p:sp>
      <p:pic>
        <p:nvPicPr>
          <p:cNvPr id="11" name="Picture 10">
            <a:extLst>
              <a:ext uri="{FF2B5EF4-FFF2-40B4-BE49-F238E27FC236}">
                <a16:creationId xmlns:a16="http://schemas.microsoft.com/office/drawing/2014/main" id="{CA271EA5-264F-A1CB-9690-D7B3C0375F45}"/>
              </a:ext>
            </a:extLst>
          </p:cNvPr>
          <p:cNvPicPr>
            <a:picLocks noChangeAspect="1"/>
          </p:cNvPicPr>
          <p:nvPr/>
        </p:nvPicPr>
        <p:blipFill>
          <a:blip r:embed="rId3"/>
          <a:srcRect t="34871" b="8145"/>
          <a:stretch>
            <a:fillRect/>
          </a:stretch>
        </p:blipFill>
        <p:spPr>
          <a:xfrm>
            <a:off x="1716506" y="4800600"/>
            <a:ext cx="5840888" cy="1030706"/>
          </a:xfrm>
          <a:prstGeom prst="rect">
            <a:avLst/>
          </a:prstGeom>
        </p:spPr>
      </p:pic>
    </p:spTree>
    <p:extLst>
      <p:ext uri="{BB962C8B-B14F-4D97-AF65-F5344CB8AC3E}">
        <p14:creationId xmlns:p14="http://schemas.microsoft.com/office/powerpoint/2010/main" val="3636816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6FD08-5F7F-556E-6208-D5FF3A3EEDC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DB72C5-290B-3DA2-11E1-044EA0E28FFF}"/>
              </a:ext>
            </a:extLst>
          </p:cNvPr>
          <p:cNvSpPr txBox="1"/>
          <p:nvPr/>
        </p:nvSpPr>
        <p:spPr>
          <a:xfrm>
            <a:off x="306806" y="882629"/>
            <a:ext cx="1642310" cy="338554"/>
          </a:xfrm>
          <a:prstGeom prst="rect">
            <a:avLst/>
          </a:prstGeom>
          <a:noFill/>
        </p:spPr>
        <p:txBody>
          <a:bodyPr wrap="square">
            <a:spAutoFit/>
          </a:bodyPr>
          <a:lstStyle/>
          <a:p>
            <a:r>
              <a:rPr lang="en-IN" sz="1600" dirty="0"/>
              <a:t>Model Training:</a:t>
            </a:r>
          </a:p>
        </p:txBody>
      </p:sp>
      <p:pic>
        <p:nvPicPr>
          <p:cNvPr id="7" name="Picture 6">
            <a:extLst>
              <a:ext uri="{FF2B5EF4-FFF2-40B4-BE49-F238E27FC236}">
                <a16:creationId xmlns:a16="http://schemas.microsoft.com/office/drawing/2014/main" id="{5D6DC358-CA13-365C-5E7D-57BE642FD6A3}"/>
              </a:ext>
            </a:extLst>
          </p:cNvPr>
          <p:cNvPicPr>
            <a:picLocks noChangeAspect="1"/>
          </p:cNvPicPr>
          <p:nvPr/>
        </p:nvPicPr>
        <p:blipFill>
          <a:blip r:embed="rId2"/>
          <a:srcRect t="1091" b="-1"/>
          <a:stretch>
            <a:fillRect/>
          </a:stretch>
        </p:blipFill>
        <p:spPr>
          <a:xfrm>
            <a:off x="1949116" y="4508902"/>
            <a:ext cx="7960827" cy="2155783"/>
          </a:xfrm>
          <a:prstGeom prst="rect">
            <a:avLst/>
          </a:prstGeom>
        </p:spPr>
      </p:pic>
      <p:pic>
        <p:nvPicPr>
          <p:cNvPr id="9" name="Picture 8">
            <a:extLst>
              <a:ext uri="{FF2B5EF4-FFF2-40B4-BE49-F238E27FC236}">
                <a16:creationId xmlns:a16="http://schemas.microsoft.com/office/drawing/2014/main" id="{F307712F-ACA1-63FB-9F9A-E6E1974DDA46}"/>
              </a:ext>
            </a:extLst>
          </p:cNvPr>
          <p:cNvPicPr>
            <a:picLocks noChangeAspect="1"/>
          </p:cNvPicPr>
          <p:nvPr/>
        </p:nvPicPr>
        <p:blipFill>
          <a:blip r:embed="rId3"/>
          <a:stretch>
            <a:fillRect/>
          </a:stretch>
        </p:blipFill>
        <p:spPr>
          <a:xfrm>
            <a:off x="1949116" y="1950134"/>
            <a:ext cx="5751406" cy="2446986"/>
          </a:xfrm>
          <a:prstGeom prst="rect">
            <a:avLst/>
          </a:prstGeom>
        </p:spPr>
      </p:pic>
      <p:pic>
        <p:nvPicPr>
          <p:cNvPr id="11" name="Picture 10">
            <a:extLst>
              <a:ext uri="{FF2B5EF4-FFF2-40B4-BE49-F238E27FC236}">
                <a16:creationId xmlns:a16="http://schemas.microsoft.com/office/drawing/2014/main" id="{80F1632C-642F-BA9F-F969-D81C8656ACF4}"/>
              </a:ext>
            </a:extLst>
          </p:cNvPr>
          <p:cNvPicPr>
            <a:picLocks noChangeAspect="1"/>
          </p:cNvPicPr>
          <p:nvPr/>
        </p:nvPicPr>
        <p:blipFill>
          <a:blip r:embed="rId4"/>
          <a:stretch>
            <a:fillRect/>
          </a:stretch>
        </p:blipFill>
        <p:spPr>
          <a:xfrm>
            <a:off x="1949116" y="882629"/>
            <a:ext cx="7565587" cy="955723"/>
          </a:xfrm>
          <a:prstGeom prst="rect">
            <a:avLst/>
          </a:prstGeom>
        </p:spPr>
      </p:pic>
    </p:spTree>
    <p:extLst>
      <p:ext uri="{BB962C8B-B14F-4D97-AF65-F5344CB8AC3E}">
        <p14:creationId xmlns:p14="http://schemas.microsoft.com/office/powerpoint/2010/main" val="4236185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A8822-96B6-6812-ECBA-CB2D610384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74BA74-034B-5ECC-EF7F-B96BCB03DDC6}"/>
              </a:ext>
            </a:extLst>
          </p:cNvPr>
          <p:cNvSpPr txBox="1"/>
          <p:nvPr/>
        </p:nvSpPr>
        <p:spPr>
          <a:xfrm>
            <a:off x="249195" y="862625"/>
            <a:ext cx="2617573" cy="615553"/>
          </a:xfrm>
          <a:prstGeom prst="rect">
            <a:avLst/>
          </a:prstGeom>
          <a:noFill/>
        </p:spPr>
        <p:txBody>
          <a:bodyPr wrap="square">
            <a:spAutoFit/>
          </a:bodyPr>
          <a:lstStyle/>
          <a:p>
            <a:r>
              <a:rPr lang="en-IN" sz="1700" dirty="0"/>
              <a:t>Model Training Evaluation:</a:t>
            </a:r>
          </a:p>
        </p:txBody>
      </p:sp>
      <p:pic>
        <p:nvPicPr>
          <p:cNvPr id="7" name="Picture 6">
            <a:extLst>
              <a:ext uri="{FF2B5EF4-FFF2-40B4-BE49-F238E27FC236}">
                <a16:creationId xmlns:a16="http://schemas.microsoft.com/office/drawing/2014/main" id="{2A500027-5790-22DD-8717-C063A185F140}"/>
              </a:ext>
            </a:extLst>
          </p:cNvPr>
          <p:cNvPicPr>
            <a:picLocks noChangeAspect="1"/>
          </p:cNvPicPr>
          <p:nvPr/>
        </p:nvPicPr>
        <p:blipFill>
          <a:blip r:embed="rId2"/>
          <a:stretch>
            <a:fillRect/>
          </a:stretch>
        </p:blipFill>
        <p:spPr>
          <a:xfrm>
            <a:off x="2032578" y="903269"/>
            <a:ext cx="8911188" cy="2205593"/>
          </a:xfrm>
          <a:prstGeom prst="rect">
            <a:avLst/>
          </a:prstGeom>
        </p:spPr>
      </p:pic>
      <p:sp>
        <p:nvSpPr>
          <p:cNvPr id="9" name="TextBox 8">
            <a:extLst>
              <a:ext uri="{FF2B5EF4-FFF2-40B4-BE49-F238E27FC236}">
                <a16:creationId xmlns:a16="http://schemas.microsoft.com/office/drawing/2014/main" id="{86282EA4-B817-71C0-C85E-9675BBEC8037}"/>
              </a:ext>
            </a:extLst>
          </p:cNvPr>
          <p:cNvSpPr txBox="1"/>
          <p:nvPr/>
        </p:nvSpPr>
        <p:spPr>
          <a:xfrm>
            <a:off x="249195" y="3545775"/>
            <a:ext cx="1355016" cy="369332"/>
          </a:xfrm>
          <a:prstGeom prst="rect">
            <a:avLst/>
          </a:prstGeom>
          <a:noFill/>
        </p:spPr>
        <p:txBody>
          <a:bodyPr wrap="square">
            <a:spAutoFit/>
          </a:bodyPr>
          <a:lstStyle/>
          <a:p>
            <a:r>
              <a:rPr lang="en-IN" sz="1800" dirty="0"/>
              <a:t>Prediction</a:t>
            </a:r>
            <a:r>
              <a:rPr lang="en-IN" sz="1600" dirty="0"/>
              <a:t>:</a:t>
            </a:r>
          </a:p>
        </p:txBody>
      </p:sp>
      <p:pic>
        <p:nvPicPr>
          <p:cNvPr id="11" name="Picture 10">
            <a:extLst>
              <a:ext uri="{FF2B5EF4-FFF2-40B4-BE49-F238E27FC236}">
                <a16:creationId xmlns:a16="http://schemas.microsoft.com/office/drawing/2014/main" id="{9B5BFA94-C2A2-3CE4-A5A0-556A40AEA979}"/>
              </a:ext>
            </a:extLst>
          </p:cNvPr>
          <p:cNvPicPr>
            <a:picLocks noChangeAspect="1"/>
          </p:cNvPicPr>
          <p:nvPr/>
        </p:nvPicPr>
        <p:blipFill>
          <a:blip r:embed="rId3"/>
          <a:srcRect t="4883" r="-329"/>
          <a:stretch>
            <a:fillRect/>
          </a:stretch>
        </p:blipFill>
        <p:spPr>
          <a:xfrm>
            <a:off x="2056348" y="3749139"/>
            <a:ext cx="8009532" cy="2750395"/>
          </a:xfrm>
          <a:prstGeom prst="rect">
            <a:avLst/>
          </a:prstGeom>
        </p:spPr>
      </p:pic>
      <p:sp>
        <p:nvSpPr>
          <p:cNvPr id="13" name="TextBox 12">
            <a:extLst>
              <a:ext uri="{FF2B5EF4-FFF2-40B4-BE49-F238E27FC236}">
                <a16:creationId xmlns:a16="http://schemas.microsoft.com/office/drawing/2014/main" id="{57EAD81E-BBD9-EB09-BDE3-3849D3851354}"/>
              </a:ext>
            </a:extLst>
          </p:cNvPr>
          <p:cNvSpPr txBox="1"/>
          <p:nvPr/>
        </p:nvSpPr>
        <p:spPr>
          <a:xfrm>
            <a:off x="3796169" y="6411013"/>
            <a:ext cx="6104768" cy="369332"/>
          </a:xfrm>
          <a:prstGeom prst="rect">
            <a:avLst/>
          </a:prstGeom>
          <a:noFill/>
        </p:spPr>
        <p:txBody>
          <a:bodyPr wrap="square">
            <a:spAutoFit/>
          </a:bodyPr>
          <a:lstStyle/>
          <a:p>
            <a:r>
              <a:rPr lang="en-IN" sz="1800" dirty="0"/>
              <a:t>Initial Graph Based on Cleaned Data (1990-2010)</a:t>
            </a:r>
          </a:p>
        </p:txBody>
      </p:sp>
      <p:sp>
        <p:nvSpPr>
          <p:cNvPr id="18" name="TextBox 17">
            <a:extLst>
              <a:ext uri="{FF2B5EF4-FFF2-40B4-BE49-F238E27FC236}">
                <a16:creationId xmlns:a16="http://schemas.microsoft.com/office/drawing/2014/main" id="{09819A50-CC80-5730-1CE7-31F8A52E9259}"/>
              </a:ext>
            </a:extLst>
          </p:cNvPr>
          <p:cNvSpPr txBox="1"/>
          <p:nvPr/>
        </p:nvSpPr>
        <p:spPr>
          <a:xfrm>
            <a:off x="3641558" y="3429000"/>
            <a:ext cx="7732295" cy="338554"/>
          </a:xfrm>
          <a:prstGeom prst="rect">
            <a:avLst/>
          </a:prstGeom>
          <a:noFill/>
        </p:spPr>
        <p:txBody>
          <a:bodyPr wrap="square">
            <a:spAutoFit/>
          </a:bodyPr>
          <a:lstStyle/>
          <a:p>
            <a:pPr algn="just"/>
            <a:r>
              <a:rPr lang="en-IN" sz="1600" dirty="0"/>
              <a:t>CO₂ Emissions per Capita Over Time (Selected Countries)</a:t>
            </a:r>
          </a:p>
        </p:txBody>
      </p:sp>
    </p:spTree>
    <p:extLst>
      <p:ext uri="{BB962C8B-B14F-4D97-AF65-F5344CB8AC3E}">
        <p14:creationId xmlns:p14="http://schemas.microsoft.com/office/powerpoint/2010/main" val="1860505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D348-A3BF-9373-E2D6-6015E553685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0007323-9D50-807E-44C3-E97DE0C42F13}"/>
              </a:ext>
            </a:extLst>
          </p:cNvPr>
          <p:cNvPicPr>
            <a:picLocks noChangeAspect="1"/>
          </p:cNvPicPr>
          <p:nvPr/>
        </p:nvPicPr>
        <p:blipFill>
          <a:blip r:embed="rId2"/>
          <a:srcRect l="465" t="1071" r="590" b="1296"/>
          <a:stretch>
            <a:fillRect/>
          </a:stretch>
        </p:blipFill>
        <p:spPr>
          <a:xfrm>
            <a:off x="5935298" y="3184357"/>
            <a:ext cx="5959922" cy="2815390"/>
          </a:xfrm>
          <a:prstGeom prst="rect">
            <a:avLst/>
          </a:prstGeom>
          <a:ln w="28575" cap="sq">
            <a:solidFill>
              <a:srgbClr val="000000"/>
            </a:solidFill>
            <a:miter lim="800000"/>
          </a:ln>
          <a:effectLst/>
        </p:spPr>
      </p:pic>
      <p:pic>
        <p:nvPicPr>
          <p:cNvPr id="7" name="Picture 6">
            <a:extLst>
              <a:ext uri="{FF2B5EF4-FFF2-40B4-BE49-F238E27FC236}">
                <a16:creationId xmlns:a16="http://schemas.microsoft.com/office/drawing/2014/main" id="{C84861BA-8419-71B9-5334-CAC82D97C1BC}"/>
              </a:ext>
            </a:extLst>
          </p:cNvPr>
          <p:cNvPicPr>
            <a:picLocks noChangeAspect="1"/>
          </p:cNvPicPr>
          <p:nvPr/>
        </p:nvPicPr>
        <p:blipFill>
          <a:blip r:embed="rId3"/>
          <a:srcRect l="293" t="319" r="890" b="1842"/>
          <a:stretch>
            <a:fillRect/>
          </a:stretch>
        </p:blipFill>
        <p:spPr>
          <a:xfrm>
            <a:off x="296780" y="1066798"/>
            <a:ext cx="5531219" cy="2620213"/>
          </a:xfrm>
          <a:prstGeom prst="rect">
            <a:avLst/>
          </a:prstGeom>
          <a:ln w="28575" cap="sq">
            <a:solidFill>
              <a:srgbClr val="000000"/>
            </a:solidFill>
            <a:miter lim="800000"/>
          </a:ln>
          <a:effectLst/>
        </p:spPr>
      </p:pic>
      <p:sp>
        <p:nvSpPr>
          <p:cNvPr id="8" name="TextBox 7">
            <a:extLst>
              <a:ext uri="{FF2B5EF4-FFF2-40B4-BE49-F238E27FC236}">
                <a16:creationId xmlns:a16="http://schemas.microsoft.com/office/drawing/2014/main" id="{C40EF7B4-2699-CA6A-BA3B-21DB40B12927}"/>
              </a:ext>
            </a:extLst>
          </p:cNvPr>
          <p:cNvSpPr txBox="1"/>
          <p:nvPr/>
        </p:nvSpPr>
        <p:spPr>
          <a:xfrm>
            <a:off x="900575" y="3753853"/>
            <a:ext cx="4981074" cy="338554"/>
          </a:xfrm>
          <a:prstGeom prst="rect">
            <a:avLst/>
          </a:prstGeom>
          <a:noFill/>
        </p:spPr>
        <p:txBody>
          <a:bodyPr wrap="square" rtlCol="0">
            <a:spAutoFit/>
          </a:bodyPr>
          <a:lstStyle/>
          <a:p>
            <a:r>
              <a:rPr lang="en-IN" sz="1600" dirty="0"/>
              <a:t>Prediction of CO2 level for the next 20 Years</a:t>
            </a:r>
          </a:p>
        </p:txBody>
      </p:sp>
      <p:sp>
        <p:nvSpPr>
          <p:cNvPr id="10" name="TextBox 9">
            <a:extLst>
              <a:ext uri="{FF2B5EF4-FFF2-40B4-BE49-F238E27FC236}">
                <a16:creationId xmlns:a16="http://schemas.microsoft.com/office/drawing/2014/main" id="{8658CE49-A9BF-69E5-83CB-998D673BB093}"/>
              </a:ext>
            </a:extLst>
          </p:cNvPr>
          <p:cNvSpPr txBox="1"/>
          <p:nvPr/>
        </p:nvSpPr>
        <p:spPr>
          <a:xfrm>
            <a:off x="6980321" y="6079958"/>
            <a:ext cx="4283839" cy="338554"/>
          </a:xfrm>
          <a:prstGeom prst="rect">
            <a:avLst/>
          </a:prstGeom>
          <a:noFill/>
        </p:spPr>
        <p:txBody>
          <a:bodyPr wrap="square">
            <a:spAutoFit/>
          </a:bodyPr>
          <a:lstStyle/>
          <a:p>
            <a:r>
              <a:rPr lang="en-IN" sz="1600" dirty="0"/>
              <a:t>Prediction of CO2 level for the next 25 Years</a:t>
            </a:r>
          </a:p>
        </p:txBody>
      </p:sp>
    </p:spTree>
    <p:extLst>
      <p:ext uri="{BB962C8B-B14F-4D97-AF65-F5344CB8AC3E}">
        <p14:creationId xmlns:p14="http://schemas.microsoft.com/office/powerpoint/2010/main" val="642859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1069</TotalTime>
  <Words>827</Words>
  <Application>Microsoft Office PowerPoint</Application>
  <PresentationFormat>Widescreen</PresentationFormat>
  <Paragraphs>81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Mohammed Ahmed Khan</cp:lastModifiedBy>
  <cp:revision>8</cp:revision>
  <dcterms:created xsi:type="dcterms:W3CDTF">2024-12-31T09:40:01Z</dcterms:created>
  <dcterms:modified xsi:type="dcterms:W3CDTF">2025-07-09T14:05:20Z</dcterms:modified>
</cp:coreProperties>
</file>